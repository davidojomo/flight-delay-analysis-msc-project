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57" r:id="rId4"/>
    <p:sldId id="269" r:id="rId5"/>
    <p:sldId id="260" r:id="rId6"/>
    <p:sldId id="261" r:id="rId7"/>
    <p:sldId id="262" r:id="rId8"/>
    <p:sldId id="275" r:id="rId9"/>
    <p:sldId id="272" r:id="rId10"/>
    <p:sldId id="276" r:id="rId11"/>
    <p:sldId id="271" r:id="rId12"/>
    <p:sldId id="263" r:id="rId13"/>
    <p:sldId id="264" r:id="rId14"/>
    <p:sldId id="277" r:id="rId15"/>
    <p:sldId id="265" r:id="rId16"/>
    <p:sldId id="278" r:id="rId17"/>
    <p:sldId id="266" r:id="rId18"/>
    <p:sldId id="267" r:id="rId19"/>
    <p:sldId id="268" r:id="rId20"/>
    <p:sldId id="258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Bichanga" initials="BB" lastIdx="9" clrIdx="0">
    <p:extLst>
      <p:ext uri="{19B8F6BF-5375-455C-9EA6-DF929625EA0E}">
        <p15:presenceInfo xmlns:p15="http://schemas.microsoft.com/office/powerpoint/2012/main" userId="S::bb23aac@herts.ac.uk::60001e75-51d9-4b79-a751-a6fedcbcfc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93"/>
    <p:restoredTop sz="91437"/>
  </p:normalViewPr>
  <p:slideViewPr>
    <p:cSldViewPr snapToGrid="0">
      <p:cViewPr varScale="1">
        <p:scale>
          <a:sx n="103" d="100"/>
          <a:sy n="103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6T09:04:49.919" idx="9">
    <p:pos x="2441" y="645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461A6-D2B6-4843-8A01-9A8F800C021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FD1EC-147E-7D4A-B8D7-963116F8AD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24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FD1EC-147E-7D4A-B8D7-963116F8AD7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96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FD1EC-147E-7D4A-B8D7-963116F8AD7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3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233A-8502-FA1E-466F-450993754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A1509-B7AD-7F9F-16A9-AE28D087E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4231-D1F3-8B81-435C-54B07167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ABC0-5B2F-F724-8CA2-4AD77668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18CD9-AF82-42D1-BC1C-658768A8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3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EB5E-2092-7513-D04D-E5E78C5E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9BFA-2821-8AEE-0367-D1075E3DC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747AA-F5DC-568E-961F-0ACD62C1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9AB5-2529-DD05-8418-4F5D2063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72641-2211-B9D2-5D2D-0CEB8472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6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D318-5258-AC17-6C18-EDC7A0E2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AA8BA-7FCE-091F-1093-66C2A40F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7A8C4-D1D5-E1DB-F08E-8B156A7B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F9995-3282-B218-7191-E568452F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F1B2D-C1C3-A65E-1408-E70F777A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704D-25C0-7EDF-CEA5-DCE052A9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8D0C-C762-2E8D-EFFF-B6428E49B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D6A28-29A6-A188-F39E-EE18F7214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C8420-8092-8F83-5898-D1840E52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B2B63-B8D4-0012-4697-D34CD3D8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53526-7DD6-6900-9E5B-C797C484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0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E6A6-76FA-6EE0-66C1-7741163D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569E-1139-ECE6-92DF-E2D763E3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1926F-A356-439E-66AA-B31618FB4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154CD-3FBF-FD8E-1309-94F02AA32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72DD8-8AE8-5272-7AAE-713C06DC4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15EE4-0950-AC4E-B9A8-10C16B81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91F9B-BCF5-5978-5AD9-EF15A0A6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58E924-960D-C061-B955-5681188B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4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54AB-E4AF-97D1-13DB-9743E4F2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85C8F-6C01-0872-D4A4-1681C861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21840-6C7D-D338-AEAA-9912C181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7559-FEA9-BD9A-986F-B9BF28CF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5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D35C0-B892-D771-9D79-3F2CFD09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F12E8-3598-406B-DBAA-38B40C29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9750-A64A-5D60-7886-B5B927CD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2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29F5-F258-2B35-D559-7CDACD21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81E1-A40C-DC47-3436-E99EA6FBF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E40DC-26D7-E5B8-F9A7-69B1259F0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5493B-1A65-BDDE-7561-854F30C5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36162-44BB-91F5-AEC5-8E51C544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30804-2826-780F-891A-3E502A00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1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2D51-6CB7-75AC-C9F3-ECB0CB3B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36A4D-B34C-4927-6686-2DF650CB8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B7C65-B5B0-8909-FBD1-E5CFD82AD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835C-1BDC-EFC7-D700-8652F64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D64F-C08E-83AD-6BB3-E65A8CEF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8EC10-91FD-FCEF-961B-BEE11695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1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1255-F548-53A7-3D6E-06048978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A3A7E-F865-7838-C478-65A732BBA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C672-B4D1-9CF2-A316-F3621CE9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8191-800D-7018-0165-8CE42D4E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F4A2-916B-9E89-DA21-0F4AF72E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8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9DCB2-9465-C3D9-A471-C8CDDA2F0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92A24-07D9-EC08-D38B-6E7FBF89F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F8236-4806-23DA-C131-7071FED9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00D1-4DCA-DE72-5E3A-B3F748AC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34DA-8C4C-F4DB-0DD9-1E701995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2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3F663-26F9-B8AD-3822-446F00ED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DE7A3-1054-0DDF-EE23-B2297BB0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4533-69F0-2A7E-4E4E-19ACFF71E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DD8F3-8449-FA49-810E-F648CBC4EA6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0F4F4-E7B6-D477-334A-C699C72D6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97A1-D6A2-7D72-E526-33B6207F9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7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sdot/flight-delay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TRC.2014.04.00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8CF2-0B72-6CDD-8BB6-93681517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Reliable Air Travel; Stratified Analysis of Flight Delay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30AE-1637-D088-E062-0FA0F1B3D3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DAVID OJOMO</a:t>
            </a:r>
          </a:p>
          <a:p>
            <a:endParaRPr lang="en-US" dirty="0"/>
          </a:p>
          <a:p>
            <a:r>
              <a:rPr lang="en-US" dirty="0"/>
              <a:t>M.Sc. Data Science Student</a:t>
            </a:r>
          </a:p>
          <a:p>
            <a:r>
              <a:rPr lang="en-US" dirty="0"/>
              <a:t>University of Hertfordshire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88F01-200A-8EAD-5C1C-1848C259CB73}"/>
              </a:ext>
            </a:extLst>
          </p:cNvPr>
          <p:cNvSpPr txBox="1"/>
          <p:nvPr/>
        </p:nvSpPr>
        <p:spPr>
          <a:xfrm>
            <a:off x="704335" y="5931243"/>
            <a:ext cx="6919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link: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davidojomo</a:t>
            </a:r>
            <a:r>
              <a:rPr lang="en-US" dirty="0"/>
              <a:t>/Flight-Delay-Analysis-MSc-Project/tree/main</a:t>
            </a:r>
          </a:p>
        </p:txBody>
      </p:sp>
    </p:spTree>
    <p:extLst>
      <p:ext uri="{BB962C8B-B14F-4D97-AF65-F5344CB8AC3E}">
        <p14:creationId xmlns:p14="http://schemas.microsoft.com/office/powerpoint/2010/main" val="243439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EDB5-C0D6-B783-0D3E-C95F7E89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674"/>
            <a:ext cx="10515600" cy="974135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695C-CAAD-D042-7173-39E6EA2F4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3809"/>
            <a:ext cx="11920870" cy="466713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+mj-lt"/>
                <a:ea typeface="+mj-ea"/>
                <a:cs typeface="+mj-cs"/>
              </a:rPr>
              <a:t>Motivation</a:t>
            </a:r>
          </a:p>
          <a:p>
            <a:pPr marL="0" indent="0">
              <a:buNone/>
            </a:pPr>
            <a:endParaRPr lang="en-US" sz="9600" dirty="0"/>
          </a:p>
          <a:p>
            <a:r>
              <a:rPr lang="en-GB" sz="9600" dirty="0"/>
              <a:t>This project, “Reliable Air Travel; Stratified Analysis of Flight Delay,” aims to explore how reliability interact within the air travel industry. </a:t>
            </a:r>
          </a:p>
          <a:p>
            <a:r>
              <a:rPr lang="en-GB" sz="9600" dirty="0"/>
              <a:t>The study will look at the main factors that influence delays in domestic flights within the United States and how these vary between different routes.</a:t>
            </a:r>
          </a:p>
          <a:p>
            <a:r>
              <a:rPr lang="en-GB" sz="9600" dirty="0"/>
              <a:t> It will also test how well machine learning models can predict flight delays using </a:t>
            </a:r>
            <a:r>
              <a:rPr lang="en-GB" sz="9600"/>
              <a:t>operational data</a:t>
            </a:r>
            <a:r>
              <a:rPr lang="en-GB" sz="9600" dirty="0"/>
              <a:t>, and how these predictions may differ across routes and airlines.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8000" dirty="0">
                <a:latin typeface="+mj-lt"/>
                <a:ea typeface="+mj-ea"/>
                <a:cs typeface="+mj-cs"/>
              </a:rPr>
              <a:t>Research question</a:t>
            </a:r>
          </a:p>
          <a:p>
            <a:endParaRPr lang="en-US" sz="2700" dirty="0"/>
          </a:p>
          <a:p>
            <a:pPr marL="514350" indent="-514350">
              <a:buAutoNum type="arabicPeriod"/>
            </a:pPr>
            <a:r>
              <a:rPr lang="en-GB" sz="9600" b="0" i="0" dirty="0">
                <a:effectLst/>
              </a:rPr>
              <a:t>What are the key factors influencing departure and arrival delays in domestic U.S. flights, and how do these vary by airline and airport?</a:t>
            </a:r>
          </a:p>
          <a:p>
            <a:pPr marL="514350" indent="-514350">
              <a:buAutoNum type="arabicPeriod"/>
            </a:pPr>
            <a:r>
              <a:rPr lang="en-GB" sz="9600" b="0" i="0" dirty="0">
                <a:effectLst/>
              </a:rPr>
              <a:t>To what extent do machine learning models predict flight arrival delays based on operational and environmental features, and how do these predictions differ across airlines and routes?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92718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77EC-2432-6E86-E0A9-8921AF33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7" y="1632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Overview of previous work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FAC880E-3813-AA71-DE2C-E8F96447C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000728"/>
              </p:ext>
            </p:extLst>
          </p:nvPr>
        </p:nvGraphicFramePr>
        <p:xfrm>
          <a:off x="529442" y="1690688"/>
          <a:ext cx="10515600" cy="42291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12481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443319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62178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Title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Authors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Methods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85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Helvetica Neue" panose="02000503000000020004" pitchFamily="2" charset="0"/>
                        </a:rPr>
                        <a:t>Characterization and prediction of air traffic delays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(Rebollo &amp; Balakrishnan, 2014)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k-Means clustering, Random Forests, Regression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576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Predictive Modeling of Flight Delays at an Airport Using Machine Learning Methods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(Hatıpoğlu &amp; Tosun, 2024)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Logistic Regression, Naïve Bayes, Neural Networks, Random Forest, XGBoost, CatBoost, and LightGBM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67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Optimizing Flight Delay Predictions with Scorecard Systems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(Jacyna-Gołda et al., 2025)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Helvetica Neue" panose="02000503000000020004" pitchFamily="2" charset="0"/>
                        </a:rPr>
                        <a:t>operational forecasting Scorecard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9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Flight Delay Prediction Using Machine Learning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(Reddy et al., 2023)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  <a:latin typeface="Helvetica Neue" panose="02000503000000020004" pitchFamily="2" charset="0"/>
                        </a:rPr>
                        <a:t>SVM, Random Forest, Regression Decision Tree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15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Flight delay forecasting and analysis of direct and indirect factors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  <a:latin typeface="Helvetica Neue" panose="02000503000000020004" pitchFamily="2" charset="0"/>
                        </a:rPr>
                        <a:t>(Wang et al., 2022)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  <a:latin typeface="Helvetica Neue" panose="02000503000000020004" pitchFamily="2" charset="0"/>
                        </a:rPr>
                        <a:t>attention mechanism (LSTM-AM)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85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D6F07F-7377-B481-B1B6-90E6C6359ADF}"/>
              </a:ext>
            </a:extLst>
          </p:cNvPr>
          <p:cNvSpPr txBox="1"/>
          <p:nvPr/>
        </p:nvSpPr>
        <p:spPr>
          <a:xfrm>
            <a:off x="529442" y="6121669"/>
            <a:ext cx="10166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Helvetica Neue" panose="02000503000000020004" pitchFamily="2" charset="0"/>
              </a:rPr>
              <a:t>- B</a:t>
            </a:r>
            <a:r>
              <a:rPr lang="en-GB" dirty="0">
                <a:effectLst/>
                <a:latin typeface="Helvetica Neue" panose="02000503000000020004" pitchFamily="2" charset="0"/>
              </a:rPr>
              <a:t>ibliography of references included at the end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4852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735723" y="391439"/>
            <a:ext cx="104577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How does the project compare to the previous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Broader scope</a:t>
            </a:r>
            <a:r>
              <a:rPr lang="en-GB" dirty="0"/>
              <a:t>: Compare delay patterns across airlines and airports using detailed time, flight, and cause data offering broader insights than prior studies focused on single airlines or the entire system.                 </a:t>
            </a:r>
          </a:p>
          <a:p>
            <a:r>
              <a:rPr lang="en-GB" b="1" dirty="0"/>
              <a:t>Sharper insights</a:t>
            </a:r>
            <a:r>
              <a:rPr lang="en-GB" dirty="0"/>
              <a:t>: Assess prediction accuracy to reveal key operational delay factors.                     </a:t>
            </a:r>
          </a:p>
          <a:p>
            <a:r>
              <a:rPr lang="en-GB" dirty="0"/>
              <a:t> </a:t>
            </a:r>
            <a:r>
              <a:rPr lang="en-GB" b="1" dirty="0"/>
              <a:t>Real world impact</a:t>
            </a:r>
            <a:r>
              <a:rPr lang="en-GB" dirty="0"/>
              <a:t>: Handle class imbalance, highlight feature importance, and link findings to practical airline decisions.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08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26B6-E9B0-D5A2-8124-A745128F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Dataset</a:t>
            </a:r>
          </a:p>
        </p:txBody>
      </p:sp>
      <p:pic>
        <p:nvPicPr>
          <p:cNvPr id="6148" name="Picture 4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56276C08-A630-3898-EE93-D58D47DFE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36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B480-6BF8-A786-A20B-4038D908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7023" y="4805474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Type of files - .csv files of flights data, airports and airlines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Size of the files - USA flights delay data (5.8 million rows, 592 MB), airports (24 KB), airlines (359B)</a:t>
            </a:r>
          </a:p>
          <a:p>
            <a:pPr marL="0" indent="0">
              <a:buNone/>
            </a:pPr>
            <a:r>
              <a:rPr lang="en-GB" sz="24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https://www.kaggle.com/datasets/usdot/flight-delays</a:t>
            </a:r>
            <a:r>
              <a:rPr lang="en-GB" sz="2400" dirty="0">
                <a:effectLst/>
              </a:rPr>
              <a:t>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999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B7A5-99E8-F2EE-7A81-A8EE2816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Ethical implications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76F5-A5DE-37A7-D774-E7635FDC0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personal data</a:t>
            </a:r>
          </a:p>
          <a:p>
            <a:r>
              <a:rPr lang="en-US" dirty="0"/>
              <a:t>Consent was obtained to use the data for this project – The data is from a public website and has a public GitHub License.</a:t>
            </a:r>
          </a:p>
          <a:p>
            <a:r>
              <a:rPr lang="en-US" dirty="0"/>
              <a:t>Data is anonymized</a:t>
            </a:r>
          </a:p>
          <a:p>
            <a:r>
              <a:rPr lang="en-US" dirty="0"/>
              <a:t>Data storage - secure</a:t>
            </a:r>
          </a:p>
        </p:txBody>
      </p:sp>
    </p:spTree>
    <p:extLst>
      <p:ext uri="{BB962C8B-B14F-4D97-AF65-F5344CB8AC3E}">
        <p14:creationId xmlns:p14="http://schemas.microsoft.com/office/powerpoint/2010/main" val="72817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84" y="-53420"/>
            <a:ext cx="10515600" cy="1325563"/>
          </a:xfrm>
        </p:spPr>
        <p:txBody>
          <a:bodyPr/>
          <a:lstStyle/>
          <a:p>
            <a:r>
              <a:rPr lang="en-US"/>
              <a:t>EDA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1054178"/>
            <a:ext cx="5554045" cy="5606843"/>
          </a:xfrm>
        </p:spPr>
        <p:txBody>
          <a:bodyPr>
            <a:normAutofit fontScale="40000" lnSpcReduction="20000"/>
          </a:bodyPr>
          <a:lstStyle/>
          <a:p>
            <a:r>
              <a:rPr lang="en-US" sz="9600" dirty="0"/>
              <a:t>Flight Statistics</a:t>
            </a:r>
          </a:p>
          <a:p>
            <a:pPr marL="0" indent="0">
              <a:buNone/>
            </a:pPr>
            <a:endParaRPr lang="en-US" sz="9600" dirty="0"/>
          </a:p>
          <a:p>
            <a:pPr marL="0" indent="0">
              <a:buNone/>
            </a:pPr>
            <a:r>
              <a:rPr lang="en-US" sz="9600" dirty="0"/>
              <a:t>Total flights: 5,819,079 </a:t>
            </a:r>
          </a:p>
          <a:p>
            <a:pPr marL="0" indent="0">
              <a:buNone/>
            </a:pPr>
            <a:r>
              <a:rPr lang="en-US" sz="9600" dirty="0"/>
              <a:t>Cancelled Flights: 89,884 (1.54)% </a:t>
            </a:r>
          </a:p>
          <a:p>
            <a:pPr marL="0" indent="0">
              <a:buNone/>
            </a:pPr>
            <a:r>
              <a:rPr lang="en-US" sz="9600" dirty="0"/>
              <a:t>Diverted Flights: 15,187 (0.26)% </a:t>
            </a:r>
          </a:p>
          <a:p>
            <a:pPr marL="0" indent="0">
              <a:buNone/>
            </a:pPr>
            <a:r>
              <a:rPr lang="en-US" sz="9600" dirty="0"/>
              <a:t>Ontime Flights: 3,606,117 (61.97)% </a:t>
            </a:r>
          </a:p>
          <a:p>
            <a:pPr marL="0" indent="0">
              <a:buNone/>
            </a:pPr>
            <a:endParaRPr lang="en-US" sz="9600" dirty="0"/>
          </a:p>
          <a:p>
            <a:pPr marL="0" indent="0">
              <a:buNone/>
            </a:pPr>
            <a:r>
              <a:rPr lang="en-US" sz="9600" dirty="0"/>
              <a:t> </a:t>
            </a:r>
          </a:p>
          <a:p>
            <a:pPr marL="0" indent="0">
              <a:buNone/>
            </a:pPr>
            <a:endParaRPr lang="en-US" sz="7000" dirty="0"/>
          </a:p>
          <a:p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A487803-4C50-0194-DA5C-662183454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230" y="346364"/>
            <a:ext cx="5799754" cy="63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70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84" y="-53420"/>
            <a:ext cx="10515600" cy="1325563"/>
          </a:xfrm>
        </p:spPr>
        <p:txBody>
          <a:bodyPr/>
          <a:lstStyle/>
          <a:p>
            <a:r>
              <a:rPr lang="en-US"/>
              <a:t>EDA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3" y="1054178"/>
            <a:ext cx="5152260" cy="5606843"/>
          </a:xfrm>
        </p:spPr>
        <p:txBody>
          <a:bodyPr>
            <a:normAutofit fontScale="32500" lnSpcReduction="20000"/>
          </a:bodyPr>
          <a:lstStyle/>
          <a:p>
            <a:r>
              <a:rPr lang="en-US" sz="9600" dirty="0"/>
              <a:t>Airline Statistics</a:t>
            </a:r>
          </a:p>
          <a:p>
            <a:pPr marL="0" indent="0">
              <a:buNone/>
            </a:pPr>
            <a:r>
              <a:rPr lang="en-US" sz="9600" dirty="0"/>
              <a:t>Top 3 airlines by flight volume - Southwest Airlines, Delta Airlines and American Airlines</a:t>
            </a:r>
          </a:p>
          <a:p>
            <a:pPr marL="0" indent="0">
              <a:buNone/>
            </a:pPr>
            <a:r>
              <a:rPr lang="en-US" sz="9600" dirty="0"/>
              <a:t>Top 3 airlines by departure delay - United Airlines, Southwest Airlines and JetBlue Airways</a:t>
            </a:r>
          </a:p>
          <a:p>
            <a:pPr marL="0" indent="0">
              <a:buNone/>
            </a:pPr>
            <a:r>
              <a:rPr lang="en-US" sz="9600" dirty="0"/>
              <a:t>Airlines with least departure and arrival delay - Alaska Airlines</a:t>
            </a:r>
          </a:p>
          <a:p>
            <a:pPr marL="0" indent="0">
              <a:buNone/>
            </a:pPr>
            <a:r>
              <a:rPr lang="en-US" sz="9600" dirty="0"/>
              <a:t> </a:t>
            </a:r>
          </a:p>
          <a:p>
            <a:pPr marL="0" indent="0">
              <a:buNone/>
            </a:pPr>
            <a:endParaRPr lang="en-US" sz="7000" dirty="0"/>
          </a:p>
          <a:p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CCC6109-5DF8-09FF-A812-3A8DC0CA6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346" y="372097"/>
            <a:ext cx="6238536" cy="615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15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7" y="44646"/>
            <a:ext cx="10515600" cy="1325563"/>
          </a:xfrm>
        </p:spPr>
        <p:txBody>
          <a:bodyPr/>
          <a:lstStyle/>
          <a:p>
            <a:r>
              <a:rPr lang="en-US"/>
              <a:t>EDA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66" y="1529790"/>
            <a:ext cx="3812961" cy="4709645"/>
          </a:xfrm>
        </p:spPr>
        <p:txBody>
          <a:bodyPr>
            <a:normAutofit fontScale="85000" lnSpcReduction="10000"/>
          </a:bodyPr>
          <a:lstStyle/>
          <a:p>
            <a:r>
              <a:rPr lang="en-US" sz="3100" dirty="0"/>
              <a:t>Route Statistics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Routes with maximum departure delay - Chicago-La Guardia NYC and La Guardia NYC-Atlanta</a:t>
            </a:r>
          </a:p>
          <a:p>
            <a:pPr marL="0" indent="0">
              <a:buNone/>
            </a:pPr>
            <a:r>
              <a:rPr lang="en-US" sz="3100" dirty="0"/>
              <a:t>Routes with least departure delay - Maui-Honolulu, Hawaii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F622CE-B0FF-5EC6-B53C-AF8F3B10D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927" y="332510"/>
            <a:ext cx="7716982" cy="614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4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7" y="44646"/>
            <a:ext cx="10515600" cy="1325563"/>
          </a:xfrm>
        </p:spPr>
        <p:txBody>
          <a:bodyPr/>
          <a:lstStyle/>
          <a:p>
            <a:r>
              <a:rPr lang="en-US"/>
              <a:t>EDA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966" y="1529790"/>
            <a:ext cx="3882234" cy="5037265"/>
          </a:xfrm>
        </p:spPr>
        <p:txBody>
          <a:bodyPr>
            <a:normAutofit/>
          </a:bodyPr>
          <a:lstStyle/>
          <a:p>
            <a:r>
              <a:rPr lang="en-US" sz="3100" dirty="0"/>
              <a:t>Route Statistics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3100" dirty="0"/>
              <a:t>Top 3 busiest routes – San Francisco-Los Angeles, Los Angeles-San Francisco, NYC-Los Angeles</a:t>
            </a:r>
          </a:p>
          <a:p>
            <a:endParaRPr lang="en-US" sz="31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EF2E234-A85C-11DA-4FC7-13B1F6DA3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348" y="1269387"/>
            <a:ext cx="7526813" cy="484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029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3007-EB72-39F8-4637-1B99A8B8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9152-77F3-1740-87E6-D6E9840DE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Dataset is imbalanced: 81.83% on-time flights vs 18.17% delayed flights</a:t>
            </a:r>
          </a:p>
          <a:p>
            <a:r>
              <a:rPr lang="en-GB" sz="2400" dirty="0"/>
              <a:t>Without balancing, models would bias toward predicting "on-time" for everything</a:t>
            </a:r>
          </a:p>
          <a:p>
            <a:r>
              <a:rPr lang="en-GB" sz="2400" dirty="0"/>
              <a:t>Used </a:t>
            </a:r>
            <a:r>
              <a:rPr lang="en-GB" sz="2400" dirty="0" err="1"/>
              <a:t>class_weight</a:t>
            </a:r>
            <a:r>
              <a:rPr lang="en-GB" sz="2400" dirty="0"/>
              <a:t>='balanced' parameter in </a:t>
            </a:r>
            <a:r>
              <a:rPr lang="en-GB" sz="2400" dirty="0" err="1"/>
              <a:t>sklearn</a:t>
            </a:r>
            <a:r>
              <a:rPr lang="en-GB" sz="2400" dirty="0"/>
              <a:t> models</a:t>
            </a:r>
          </a:p>
          <a:p>
            <a:r>
              <a:rPr lang="en-GB" sz="2400" dirty="0"/>
              <a:t>Automatically adjusts weights inversely proportional to class frequencies</a:t>
            </a:r>
          </a:p>
          <a:p>
            <a:r>
              <a:rPr lang="en-GB" sz="2400" dirty="0"/>
              <a:t>Recommended by research literature (</a:t>
            </a:r>
            <a:r>
              <a:rPr lang="en-GB" sz="2400" dirty="0" err="1"/>
              <a:t>Esmaeilzadeh</a:t>
            </a:r>
            <a:r>
              <a:rPr lang="en-GB" sz="2400" dirty="0"/>
              <a:t> &amp; </a:t>
            </a:r>
            <a:r>
              <a:rPr lang="en-GB" sz="2400" dirty="0" err="1"/>
              <a:t>Mokhtarimousavi</a:t>
            </a:r>
            <a:r>
              <a:rPr lang="en-GB" sz="2400" dirty="0"/>
              <a:t>, 2020)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6F79C33-37F0-DB18-1EB7-9BCF90782440}"/>
              </a:ext>
            </a:extLst>
          </p:cNvPr>
          <p:cNvSpPr/>
          <p:nvPr/>
        </p:nvSpPr>
        <p:spPr>
          <a:xfrm>
            <a:off x="1667435" y="4778188"/>
            <a:ext cx="7915835" cy="184673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Code: </a:t>
            </a:r>
          </a:p>
          <a:p>
            <a:pPr algn="ctr"/>
            <a:r>
              <a:rPr lang="en-GB" dirty="0" err="1">
                <a:solidFill>
                  <a:schemeClr val="tx2"/>
                </a:solidFill>
              </a:rPr>
              <a:t>rf_model</a:t>
            </a:r>
            <a:r>
              <a:rPr lang="en-GB" dirty="0">
                <a:solidFill>
                  <a:schemeClr val="tx2"/>
                </a:solidFill>
              </a:rPr>
              <a:t> = </a:t>
            </a:r>
            <a:r>
              <a:rPr lang="en-GB" dirty="0" err="1">
                <a:solidFill>
                  <a:schemeClr val="tx2"/>
                </a:solidFill>
              </a:rPr>
              <a:t>RandomForestClassifier</a:t>
            </a:r>
            <a:r>
              <a:rPr lang="en-GB" dirty="0">
                <a:solidFill>
                  <a:schemeClr val="tx2"/>
                </a:solidFill>
              </a:rPr>
              <a:t>(</a:t>
            </a:r>
          </a:p>
          <a:p>
            <a:pPr algn="ctr"/>
            <a:r>
              <a:rPr lang="en-GB" dirty="0">
                <a:solidFill>
                  <a:schemeClr val="tx2"/>
                </a:solidFill>
              </a:rPr>
              <a:t>    </a:t>
            </a:r>
            <a:r>
              <a:rPr lang="en-GB" dirty="0" err="1">
                <a:solidFill>
                  <a:schemeClr val="tx2"/>
                </a:solidFill>
              </a:rPr>
              <a:t>n_estimators</a:t>
            </a:r>
            <a:r>
              <a:rPr lang="en-GB" dirty="0">
                <a:solidFill>
                  <a:schemeClr val="tx2"/>
                </a:solidFill>
              </a:rPr>
              <a:t>=100,max_depth=15,</a:t>
            </a:r>
          </a:p>
          <a:p>
            <a:pPr algn="ctr"/>
            <a:r>
              <a:rPr lang="en-GB" dirty="0">
                <a:solidFill>
                  <a:schemeClr val="tx2"/>
                </a:solidFill>
              </a:rPr>
              <a:t>    </a:t>
            </a:r>
            <a:r>
              <a:rPr lang="en-GB" dirty="0" err="1">
                <a:solidFill>
                  <a:schemeClr val="tx2"/>
                </a:solidFill>
              </a:rPr>
              <a:t>min_samples_split</a:t>
            </a:r>
            <a:r>
              <a:rPr lang="en-GB" dirty="0">
                <a:solidFill>
                  <a:schemeClr val="tx2"/>
                </a:solidFill>
              </a:rPr>
              <a:t> = 100,</a:t>
            </a:r>
          </a:p>
          <a:p>
            <a:pPr algn="ctr"/>
            <a:r>
              <a:rPr lang="en-GB" dirty="0">
                <a:solidFill>
                  <a:schemeClr val="tx2"/>
                </a:solidFill>
              </a:rPr>
              <a:t>    </a:t>
            </a:r>
            <a:r>
              <a:rPr lang="en-GB" dirty="0" err="1">
                <a:solidFill>
                  <a:schemeClr val="tx2"/>
                </a:solidFill>
              </a:rPr>
              <a:t>min_samples_leaf</a:t>
            </a:r>
            <a:r>
              <a:rPr lang="en-GB" dirty="0">
                <a:solidFill>
                  <a:schemeClr val="tx2"/>
                </a:solidFill>
              </a:rPr>
              <a:t> = 50,</a:t>
            </a:r>
          </a:p>
          <a:p>
            <a:pPr algn="ctr"/>
            <a:r>
              <a:rPr lang="en-GB" dirty="0">
                <a:solidFill>
                  <a:schemeClr val="tx2"/>
                </a:solidFill>
              </a:rPr>
              <a:t>    </a:t>
            </a:r>
            <a:r>
              <a:rPr lang="en-GB" dirty="0" err="1">
                <a:solidFill>
                  <a:schemeClr val="tx2"/>
                </a:solidFill>
              </a:rPr>
              <a:t>class_weight</a:t>
            </a:r>
            <a:r>
              <a:rPr lang="en-GB" dirty="0">
                <a:solidFill>
                  <a:schemeClr val="tx2"/>
                </a:solidFill>
              </a:rPr>
              <a:t> = 'balanced',</a:t>
            </a:r>
          </a:p>
          <a:p>
            <a:pPr algn="ctr"/>
            <a:r>
              <a:rPr lang="en-GB" dirty="0">
                <a:solidFill>
                  <a:schemeClr val="tx2"/>
                </a:solidFill>
              </a:rPr>
              <a:t>    </a:t>
            </a:r>
            <a:r>
              <a:rPr lang="en-GB" dirty="0" err="1">
                <a:solidFill>
                  <a:schemeClr val="tx2"/>
                </a:solidFill>
              </a:rPr>
              <a:t>random_state</a:t>
            </a:r>
            <a:r>
              <a:rPr lang="en-GB" dirty="0">
                <a:solidFill>
                  <a:schemeClr val="tx2"/>
                </a:solidFill>
              </a:rPr>
              <a:t>=42, </a:t>
            </a:r>
            <a:r>
              <a:rPr lang="en-GB" dirty="0" err="1">
                <a:solidFill>
                  <a:schemeClr val="tx2"/>
                </a:solidFill>
              </a:rPr>
              <a:t>n_jobs</a:t>
            </a:r>
            <a:r>
              <a:rPr lang="en-GB" dirty="0">
                <a:solidFill>
                  <a:schemeClr val="tx2"/>
                </a:solidFill>
              </a:rPr>
              <a:t>=-1)</a:t>
            </a:r>
          </a:p>
        </p:txBody>
      </p:sp>
    </p:spTree>
    <p:extLst>
      <p:ext uri="{BB962C8B-B14F-4D97-AF65-F5344CB8AC3E}">
        <p14:creationId xmlns:p14="http://schemas.microsoft.com/office/powerpoint/2010/main" val="223395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D931-EA22-F2EA-E147-9DE9EDB0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499C4-9E24-4376-05D3-2219D139E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96" y="1690687"/>
            <a:ext cx="10515600" cy="4802187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/>
              <a:t>Raw Data (5.8M flights, 30 columns)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Feature Engineering (7 new features created)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Label Encoding (7 categorical → numerical)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RFE Feature Selection (16 → 12 features)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Train-Test Split (80/20 stratified)</a:t>
            </a:r>
          </a:p>
          <a:p>
            <a:pPr marL="0" indent="0" algn="ctr">
              <a:buNone/>
            </a:pPr>
            <a:r>
              <a:rPr lang="en-US" dirty="0"/>
              <a:t>    ↓</a:t>
            </a:r>
          </a:p>
          <a:p>
            <a:pPr marL="0" indent="0" algn="ctr">
              <a:buNone/>
            </a:pPr>
            <a:r>
              <a:rPr lang="en-US" dirty="0"/>
              <a:t>Ready for Modeling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 Augmentation</a:t>
            </a:r>
            <a:r>
              <a:rPr lang="en-US" dirty="0"/>
              <a:t>: No synthetic augmentation used; Class weighting applied instead to handle imbalance efficiently while preserving 5.8M real-world flight records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7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95A6-2BA8-088C-E71D-B4D21CDE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67DB-D0EB-74C8-42AD-9972236C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30" y="1690688"/>
            <a:ext cx="4818352" cy="4424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Random Forest:</a:t>
            </a:r>
          </a:p>
          <a:p>
            <a:pPr marL="0" indent="0">
              <a:buNone/>
            </a:pPr>
            <a:r>
              <a:rPr lang="en-US" sz="2000" dirty="0"/>
              <a:t>Ensemble method that builds multiple independent decision trees on random data subsets.</a:t>
            </a:r>
          </a:p>
          <a:p>
            <a:pPr marL="0" indent="0">
              <a:buNone/>
            </a:pPr>
            <a:r>
              <a:rPr lang="en-US" sz="2000" dirty="0"/>
              <a:t>With each tree voting on the final prediction; reduces overfitting through averaging and provides built-in feature importance rankings</a:t>
            </a:r>
          </a:p>
          <a:p>
            <a:pPr marL="0" indent="0">
              <a:buNone/>
            </a:pPr>
            <a:r>
              <a:rPr lang="en-US" sz="2000" dirty="0"/>
              <a:t>Why Used:</a:t>
            </a:r>
          </a:p>
          <a:p>
            <a:pPr marL="0" indent="0">
              <a:buNone/>
            </a:pPr>
            <a:r>
              <a:rPr lang="en-US" sz="2000" dirty="0"/>
              <a:t>Robust to imbalanced data when combined with class weighting; Provides interpretable feature importance for RQ1 analysis.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A diagram of a number training&#10;&#10;Description automatically generated">
            <a:extLst>
              <a:ext uri="{FF2B5EF4-FFF2-40B4-BE49-F238E27FC236}">
                <a16:creationId xmlns:a16="http://schemas.microsoft.com/office/drawing/2014/main" id="{653DC5AA-67AF-E983-5FD5-D03D72BB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072" y="1050218"/>
            <a:ext cx="5971310" cy="49765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72EF09-6F10-9EEF-5C40-4B2F1B21698F}"/>
              </a:ext>
            </a:extLst>
          </p:cNvPr>
          <p:cNvSpPr txBox="1"/>
          <p:nvPr/>
        </p:nvSpPr>
        <p:spPr>
          <a:xfrm>
            <a:off x="6664036" y="5807782"/>
            <a:ext cx="481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Lecture 2 Page 74 of Machine Learning and Neural Networks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07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95A6-2BA8-088C-E71D-B4D21CDE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67DB-D0EB-74C8-42AD-9972236C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75" y="1477040"/>
            <a:ext cx="4319589" cy="481292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000" dirty="0"/>
              <a:t>Light GBM:</a:t>
            </a:r>
          </a:p>
          <a:p>
            <a:pPr marL="0" indent="0">
              <a:buNone/>
            </a:pPr>
            <a:r>
              <a:rPr lang="en-US" sz="2000" dirty="0"/>
              <a:t>Sequential ensemble method where each tree corrects errors from previous trees; uses efficient leaf-wise growth strategy optimized for large datasets and faster training</a:t>
            </a:r>
          </a:p>
          <a:p>
            <a:pPr marL="0" indent="0">
              <a:buNone/>
            </a:pPr>
            <a:r>
              <a:rPr lang="en-US" sz="2000" dirty="0"/>
              <a:t>Why Used:</a:t>
            </a:r>
          </a:p>
          <a:p>
            <a:pPr marL="0" indent="0">
              <a:buNone/>
            </a:pPr>
            <a:r>
              <a:rPr lang="en-US" sz="2000" dirty="0"/>
              <a:t>Handles large datasets efficiently; Often achieves higher accuracy than Random Forest.</a:t>
            </a:r>
          </a:p>
          <a:p>
            <a:pPr marL="0" indent="0">
              <a:buNone/>
            </a:pPr>
            <a:r>
              <a:rPr lang="en-US" sz="2000" dirty="0"/>
              <a:t>Supports class imbalance through </a:t>
            </a:r>
            <a:r>
              <a:rPr lang="en-US" sz="2000" dirty="0" err="1"/>
              <a:t>scale_pos_weight</a:t>
            </a:r>
            <a:r>
              <a:rPr lang="en-US" sz="2000" dirty="0"/>
              <a:t> parameter; Fast training time despite dataset size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F8038D-86C9-617E-DB37-81D789E4E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910" y="1226822"/>
            <a:ext cx="6456672" cy="409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9090D2-DC17-627F-B917-859E4F578D3B}"/>
              </a:ext>
            </a:extLst>
          </p:cNvPr>
          <p:cNvSpPr txBox="1"/>
          <p:nvPr/>
        </p:nvSpPr>
        <p:spPr>
          <a:xfrm>
            <a:off x="5251100" y="5631178"/>
            <a:ext cx="60682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</a:t>
            </a:r>
            <a:r>
              <a:rPr lang="en-GB" dirty="0" err="1"/>
              <a:t>LightGBM</a:t>
            </a:r>
            <a:r>
              <a:rPr lang="en-GB" dirty="0"/>
              <a:t> (Light Gradient Boosting Machine), https://</a:t>
            </a:r>
            <a:r>
              <a:rPr lang="en-GB" dirty="0" err="1"/>
              <a:t>www.geeksforgeeks.org</a:t>
            </a:r>
            <a:r>
              <a:rPr lang="en-GB" dirty="0"/>
              <a:t>/machine-learning/</a:t>
            </a:r>
            <a:r>
              <a:rPr lang="en-GB" dirty="0" err="1"/>
              <a:t>lightgbm</a:t>
            </a:r>
            <a:r>
              <a:rPr lang="en-GB" dirty="0"/>
              <a:t>-light-gradient-boosting-machine/</a:t>
            </a:r>
          </a:p>
        </p:txBody>
      </p:sp>
    </p:spTree>
    <p:extLst>
      <p:ext uri="{BB962C8B-B14F-4D97-AF65-F5344CB8AC3E}">
        <p14:creationId xmlns:p14="http://schemas.microsoft.com/office/powerpoint/2010/main" val="3563970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C5C3-2414-5239-C9FC-9C3F106E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7" y="136854"/>
            <a:ext cx="10098742" cy="5674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Model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C307-E670-3609-77FB-0B7BC546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36" y="3649848"/>
            <a:ext cx="3245223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4F4B83D-117F-76EA-598D-B1FE4813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92" y="3364435"/>
            <a:ext cx="6099666" cy="3356711"/>
          </a:xfrm>
          <a:prstGeom prst="rect">
            <a:avLst/>
          </a:prstGeom>
        </p:spPr>
      </p:pic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46560BBB-C9A7-1EDD-0D27-5F097EEFC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36" y="3434438"/>
            <a:ext cx="5507741" cy="34235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48A22B-D46F-1BFE-093E-E3B75464DCB5}"/>
              </a:ext>
            </a:extLst>
          </p:cNvPr>
          <p:cNvSpPr txBox="1"/>
          <p:nvPr/>
        </p:nvSpPr>
        <p:spPr>
          <a:xfrm>
            <a:off x="699247" y="704306"/>
            <a:ext cx="1009874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Random Forest Performance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Accuracy: 64% with balanced precision-recall trade-off for both delayed and on-time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Strong feature importance extraction capability, identifying DISTANCE, TAXI_OUT, and SCHEDULED_HOUR as top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Robust generalization with consistent performance across different data subsets; minimal overfitting due to ensemble averaging</a:t>
            </a:r>
          </a:p>
          <a:p>
            <a:endParaRPr lang="en-GB" sz="14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6127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C5C3-2414-5239-C9FC-9C3F106E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7" y="136854"/>
            <a:ext cx="10098742" cy="5674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Model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C307-E670-3609-77FB-0B7BC546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36" y="3649848"/>
            <a:ext cx="3245223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B0D804D-56DA-1C5C-E5B4-E20DC338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419" y="2653259"/>
            <a:ext cx="5950145" cy="3918641"/>
          </a:xfrm>
          <a:prstGeom prst="rect">
            <a:avLst/>
          </a:prstGeom>
        </p:spPr>
      </p:pic>
      <p:pic>
        <p:nvPicPr>
          <p:cNvPr id="15" name="Picture 14" descr="A blue squares with numbers and a white background&#10;&#10;Description automatically generated">
            <a:extLst>
              <a:ext uri="{FF2B5EF4-FFF2-40B4-BE49-F238E27FC236}">
                <a16:creationId xmlns:a16="http://schemas.microsoft.com/office/drawing/2014/main" id="{C271D4A5-6A0D-E696-8CED-7C6ED3E2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72" y="2788171"/>
            <a:ext cx="4976735" cy="37837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48A22B-D46F-1BFE-093E-E3B75464DCB5}"/>
              </a:ext>
            </a:extLst>
          </p:cNvPr>
          <p:cNvSpPr txBox="1"/>
          <p:nvPr/>
        </p:nvSpPr>
        <p:spPr>
          <a:xfrm>
            <a:off x="194872" y="684312"/>
            <a:ext cx="1153897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Light GBM Performance: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Higher accuracy than Random Forest due to sequential error correction and optimized boosting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Faster training time (50% reduction) despite large dataset size (5.8M samples) through efficient leaf-wise tree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Superior handling of complex non-linear patterns with better recall for minority class (delayed flights)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369880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877F5-D31B-A434-ED73-FBA53230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776" y="-8942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1BE6B-5941-6565-8CA9-AB179C007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160" y="1141474"/>
            <a:ext cx="6128796" cy="209678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Applied </a:t>
            </a:r>
            <a:r>
              <a:rPr lang="en-US" dirty="0" err="1"/>
              <a:t>RandomizedSearchCV</a:t>
            </a:r>
            <a:r>
              <a:rPr lang="en-US" dirty="0"/>
              <a:t> on Light GBM for faster and efficient parameter optimization; accuracy improved marginally from baseline, confirming model robustness</a:t>
            </a:r>
          </a:p>
          <a:p>
            <a:r>
              <a:rPr lang="en-US" dirty="0"/>
              <a:t>Explored Random Forest hyperparameter tuning but discontinued due to excessive computational time</a:t>
            </a:r>
          </a:p>
          <a:p>
            <a:r>
              <a:rPr lang="en-US" dirty="0"/>
              <a:t>Tuning parameters included </a:t>
            </a:r>
            <a:r>
              <a:rPr lang="en-US" dirty="0" err="1"/>
              <a:t>n_estimators</a:t>
            </a:r>
            <a:r>
              <a:rPr lang="en-US" dirty="0"/>
              <a:t>, </a:t>
            </a:r>
            <a:r>
              <a:rPr lang="en-US" dirty="0" err="1"/>
              <a:t>max_depth</a:t>
            </a:r>
            <a:r>
              <a:rPr lang="en-US" dirty="0"/>
              <a:t>, </a:t>
            </a:r>
            <a:r>
              <a:rPr lang="en-US" dirty="0" err="1"/>
              <a:t>learning_rate</a:t>
            </a:r>
            <a:r>
              <a:rPr lang="en-US" dirty="0"/>
              <a:t>, and </a:t>
            </a:r>
            <a:r>
              <a:rPr lang="en-US" dirty="0" err="1"/>
              <a:t>min_samples_split</a:t>
            </a:r>
            <a:r>
              <a:rPr lang="en-US" dirty="0"/>
              <a:t>; optimized for F1-score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E01DE626-FB30-AE67-8B1E-B0AA0E655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60" y="3708592"/>
            <a:ext cx="4812423" cy="273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97E673B2-14A2-2755-14B1-9E42E19C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588" y="2039281"/>
            <a:ext cx="5444284" cy="209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AB78AAF3-B94C-5666-FABE-258AFB0D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956" y="4213743"/>
            <a:ext cx="5348166" cy="247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6955781E-F930-9D4F-E205-24BD64869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075" y="1350921"/>
            <a:ext cx="5598925" cy="53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361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5DC4-F847-332E-C4F3-91030FB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2" y="0"/>
            <a:ext cx="9818226" cy="1030147"/>
          </a:xfrm>
        </p:spPr>
        <p:txBody>
          <a:bodyPr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77EF-2CE5-1E09-CDE2-808808BAB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1346"/>
            <a:ext cx="12060819" cy="58766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Satisfied with 82-83% accuracy; Random Forest (64%) served its purpose for feature importance analysis (RQ1); Light GBM performance is operationally useful and aligns with aviation research standards</a:t>
            </a:r>
          </a:p>
          <a:p>
            <a:r>
              <a:rPr lang="en-US" dirty="0"/>
              <a:t>82-83% accuracy is good and operationally valuable; correctly predicts 8 out of 10 cases with balanced performance across both delayed and on-time classes</a:t>
            </a:r>
          </a:p>
          <a:p>
            <a:r>
              <a:rPr lang="en-US" dirty="0"/>
              <a:t>Industry standard for delay prediction: 75-85% accuracy due to inherent complexity and unpredictable external factors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 Steps</a:t>
            </a:r>
          </a:p>
          <a:p>
            <a:r>
              <a:rPr lang="en-US" dirty="0"/>
              <a:t>Experiment with other faster and efficient models such as XGB, Logistic Regression </a:t>
            </a:r>
          </a:p>
          <a:p>
            <a:r>
              <a:rPr lang="en-US" dirty="0"/>
              <a:t>Develop context-specific models per airline/airport (RQ2 analysis) which might typically achieve higher accuracy for targeted scenarios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74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652F-2791-3A9E-7A2B-127F425E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and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536B-1F7B-EE15-2818-17A22AC4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34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Summary - Applied Random Forest and Light GBM models to predict fight delay from features such as distance, day of week, season, </a:t>
            </a:r>
            <a:r>
              <a:rPr lang="en-US" dirty="0" err="1"/>
              <a:t>Taxi_out</a:t>
            </a:r>
            <a:r>
              <a:rPr lang="en-US" dirty="0"/>
              <a:t> etc.                              </a:t>
            </a:r>
          </a:p>
          <a:p>
            <a:r>
              <a:rPr lang="en-US" dirty="0"/>
              <a:t>Day of Week, </a:t>
            </a:r>
            <a:r>
              <a:rPr lang="en-US" dirty="0" err="1"/>
              <a:t>Taxi_out</a:t>
            </a:r>
            <a:r>
              <a:rPr lang="en-US" dirty="0"/>
              <a:t>, Distance and Month were top features influencing departure delay (RFE method)                                          Results - Got 64% accuracy for Random Forest and 82% accuracy for Light GBM models                                                          </a:t>
            </a:r>
          </a:p>
          <a:p>
            <a:r>
              <a:rPr lang="en-US" dirty="0"/>
              <a:t>With hyperparameter tuning performance moderately increased as Light GBM already handles complex datasets well                </a:t>
            </a:r>
          </a:p>
          <a:p>
            <a:r>
              <a:rPr lang="en-US" dirty="0"/>
              <a:t>What next?- Implement more models and conduct a stratified analysis of model performance by airline and airports</a:t>
            </a:r>
          </a:p>
        </p:txBody>
      </p:sp>
    </p:spTree>
    <p:extLst>
      <p:ext uri="{BB962C8B-B14F-4D97-AF65-F5344CB8AC3E}">
        <p14:creationId xmlns:p14="http://schemas.microsoft.com/office/powerpoint/2010/main" val="112077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67BA-D7A0-6BD8-994C-ACB6704C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698" y="365126"/>
            <a:ext cx="10393101" cy="769194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4B54-E4C5-1D63-D7ED-669D8245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2" y="1446834"/>
            <a:ext cx="11018134" cy="5411165"/>
          </a:xfrm>
        </p:spPr>
        <p:txBody>
          <a:bodyPr>
            <a:normAutofit fontScale="55000" lnSpcReduction="20000"/>
          </a:bodyPr>
          <a:lstStyle/>
          <a:p>
            <a:r>
              <a:rPr lang="en-US" sz="5600" dirty="0" err="1"/>
              <a:t>Esmaeilzadeh</a:t>
            </a:r>
            <a:r>
              <a:rPr lang="en-US" sz="5600" dirty="0"/>
              <a:t>, E. and </a:t>
            </a:r>
            <a:r>
              <a:rPr lang="en-US" sz="5600" dirty="0" err="1"/>
              <a:t>Mokhtarimousavi</a:t>
            </a:r>
            <a:r>
              <a:rPr lang="en-US" sz="5600" dirty="0"/>
              <a:t>, S. (2020) “Machine Learning Approach for Flight Departure Delay Prediction and Analysis,” Transportation Research Record: Journal of the Transportation Research Board, 2674(8), pp. 145–159. Available at: https://</a:t>
            </a:r>
            <a:r>
              <a:rPr lang="en-US" sz="5600" dirty="0" err="1"/>
              <a:t>doi.org</a:t>
            </a:r>
            <a:r>
              <a:rPr lang="en-US" sz="5600" dirty="0"/>
              <a:t>/10.1177/0361198120930014.</a:t>
            </a:r>
          </a:p>
          <a:p>
            <a:r>
              <a:rPr lang="en-US" sz="5600" dirty="0" err="1"/>
              <a:t>Hatıpoğlu</a:t>
            </a:r>
            <a:r>
              <a:rPr lang="en-US" sz="5600" dirty="0"/>
              <a:t>, I. and </a:t>
            </a:r>
            <a:r>
              <a:rPr lang="en-US" sz="5600" dirty="0" err="1"/>
              <a:t>Tosun</a:t>
            </a:r>
            <a:r>
              <a:rPr lang="en-US" sz="5600" dirty="0"/>
              <a:t>, </a:t>
            </a:r>
            <a:r>
              <a:rPr lang="en-US" sz="5600" dirty="0" err="1"/>
              <a:t>Ö</a:t>
            </a:r>
            <a:r>
              <a:rPr lang="en-US" sz="5600" dirty="0"/>
              <a:t>. (2024) “Predictive Modeling of Flight Delays at an Airport Using Machine Learning Methods,” Applied Sciences, 14(13), p. 5472. Available at: https://</a:t>
            </a:r>
            <a:r>
              <a:rPr lang="en-US" sz="5600" dirty="0" err="1"/>
              <a:t>doi.org</a:t>
            </a:r>
            <a:r>
              <a:rPr lang="en-US" sz="5600" dirty="0"/>
              <a:t>/10.3390/app14135472.</a:t>
            </a:r>
          </a:p>
          <a:p>
            <a:r>
              <a:rPr lang="en-US" sz="5600" dirty="0"/>
              <a:t>  </a:t>
            </a:r>
            <a:r>
              <a:rPr lang="en-US" sz="5600" dirty="0" err="1"/>
              <a:t>Jacyna-Gołda</a:t>
            </a:r>
            <a:r>
              <a:rPr lang="en-US" sz="5600" dirty="0"/>
              <a:t>, I. et al. (2025) “Optimizing Flight Delay Predictions with Scorecard Systems,” Applied Sciences, 15(11), p. 5918. Available at: https://</a:t>
            </a:r>
            <a:r>
              <a:rPr lang="en-US" sz="5600" dirty="0" err="1"/>
              <a:t>doi.org</a:t>
            </a:r>
            <a:r>
              <a:rPr lang="en-US" sz="5600" dirty="0"/>
              <a:t>/10.3390/app15115918.</a:t>
            </a:r>
          </a:p>
          <a:p>
            <a:r>
              <a:rPr lang="en-US" sz="5600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11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B81B-C053-151F-BA7A-4034DE85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D1BE-3A16-A2E1-4426-8117FD56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Rebollo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J.J. and Balakrishnan, H. (2014) “Characterization and prediction of air traffic delays,” Transportation Research Part C: Emerging Technologies, 44, pp. 231–241. Available at: 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https://doi.org/10.1016/J.TRC.2014.04.007</a:t>
            </a:r>
            <a:r>
              <a:rPr lang="en-GB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Reddy, R.T. et al. (2023) Flight Delay Prediction Using Machine Learning, 2023 IEEE 8th International Conference for Convergence in Technology (I2CT). IEEE. Available at: https://</a:t>
            </a:r>
            <a:r>
              <a:rPr lang="en-GB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doi.org</a:t>
            </a:r>
            <a:r>
              <a:rPr lang="en-GB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/10.1109/I2CT57861.2023.10126220.</a:t>
            </a:r>
          </a:p>
          <a:p>
            <a:r>
              <a:rPr lang="en-GB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Wang, F. et al. (2022) “Flight delay forecasting and analysis of direct and indirect factors,” IET Intelligent Transport Systems, 16(7), pp. 890–907. Available at: https://</a:t>
            </a:r>
            <a:r>
              <a:rPr lang="en-GB" sz="2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doi.org</a:t>
            </a:r>
            <a:r>
              <a:rPr lang="en-GB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/10.1049/itr2.12183.</a:t>
            </a:r>
          </a:p>
          <a:p>
            <a:endParaRPr lang="en-GB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52165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3615</TotalTime>
  <Words>1629</Words>
  <Application>Microsoft Macintosh PowerPoint</Application>
  <PresentationFormat>Widescreen</PresentationFormat>
  <Paragraphs>180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Helvetica Neue</vt:lpstr>
      <vt:lpstr>Office Theme</vt:lpstr>
      <vt:lpstr>Reliable Air Travel; Stratified Analysis of Flight Delay</vt:lpstr>
      <vt:lpstr>Introduction</vt:lpstr>
      <vt:lpstr>Overview of previous work</vt:lpstr>
      <vt:lpstr>PowerPoint Presentation</vt:lpstr>
      <vt:lpstr>Dataset</vt:lpstr>
      <vt:lpstr>Ethical implications </vt:lpstr>
      <vt:lpstr>EDA</vt:lpstr>
      <vt:lpstr>EDA</vt:lpstr>
      <vt:lpstr>EDA</vt:lpstr>
      <vt:lpstr>EDA</vt:lpstr>
      <vt:lpstr>Data Balancing</vt:lpstr>
      <vt:lpstr>Pre-processing</vt:lpstr>
      <vt:lpstr>Model used</vt:lpstr>
      <vt:lpstr>Model used</vt:lpstr>
      <vt:lpstr>Model result</vt:lpstr>
      <vt:lpstr>Model result</vt:lpstr>
      <vt:lpstr>Hyperparameter tuning</vt:lpstr>
      <vt:lpstr>Analysis</vt:lpstr>
      <vt:lpstr>Summary and conclusions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</dc:title>
  <dc:creator>Darshan Kakkad</dc:creator>
  <cp:lastModifiedBy>David Ojomo</cp:lastModifiedBy>
  <cp:revision>182</cp:revision>
  <dcterms:created xsi:type="dcterms:W3CDTF">2025-11-12T13:13:26Z</dcterms:created>
  <dcterms:modified xsi:type="dcterms:W3CDTF">2025-11-28T09:06:15Z</dcterms:modified>
</cp:coreProperties>
</file>